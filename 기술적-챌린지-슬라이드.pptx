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docs/qa/activity-slides/h4-200-audience-load.md (2026-07-17). p50 191ms. 방어선: HMAC 쿠키 → FOR UPDATE row lock → mutationId+UNIQUE → revision 단조 증가.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NLI PoC: fp32 428MB, WebGPU/WASM cold load 44~48s로 게이트(45s) 실패 → 기각. 정책값 0.89/0.04/0.55는 e5-prefix-mode-calibration 스파이크로 고정. E5 점수는 0.7~1.0에 몰려 절대 임계값만으론 불충분 → 마진+어휘 겹침 결합.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SQS 취소: 2026-07-16 팀 회의(PR #397 미병합 close). 같은 날 PostgreSQL transport 구현(#415). 재도입 조건(DB 폴링이 병목이 되는 규모)도 기록. 비용 수치는 추정 — 발표 전 AWS 계산기로 재산출.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청중 200명 동시 응답, </a:t>
            </a:r>
            <a:pPr algn="ctr" indent="0" marL="0">
              <a:buNone/>
            </a:pPr>
            <a:r>
              <a:rPr lang="en-US" sz="3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유실·중복 0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" y="950976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이벤트는 무효화 신호로만 사용하고 데이터는 HTTP 스냅샷을 재조회 — 4단계 제어로 유실·중복·역전을 제거합니다.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76656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식별 (Signed Cookie)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3816" y="178308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6212" y="203911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613" y="218651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2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 서명 쿠키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225296" y="3172968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396996"/>
            <a:ext cx="137160" cy="137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1016" y="335584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HMAC-SHA256 + UA 바인딩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899916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1016" y="3858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새로고침에도 같은 audienceId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402836"/>
            <a:ext cx="137160" cy="1371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1016" y="436168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 window rate limit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172968" y="3273552"/>
            <a:ext cx="36576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7" name="Text 11"/>
          <p:cNvSpPr/>
          <p:nvPr/>
        </p:nvSpPr>
        <p:spPr>
          <a:xfrm>
            <a:off x="3419856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직렬화 (Row Lock)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557016" y="178308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439412" y="203911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813" y="2186513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484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UPDATE OF runs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3968496" y="3172968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3396996"/>
            <a:ext cx="137160" cy="1371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14216" y="335584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+ 잠금을 한 쿼리로</a:t>
            </a:r>
            <a:endParaRPr lang="en-US" sz="10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6472" y="3899916"/>
            <a:ext cx="137160" cy="1371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14216" y="3858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row 하나만 직렬화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472" y="4402836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014216" y="436168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revision·count 원자 증가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5916168" y="3273552"/>
            <a:ext cx="36576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30" name="Text 20"/>
          <p:cNvSpPr/>
          <p:nvPr/>
        </p:nvSpPr>
        <p:spPr>
          <a:xfrm>
            <a:off x="6163056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멱등성 (중복 차단)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300216" y="178308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7182612" y="203911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0013" y="2186513"/>
            <a:ext cx="272125" cy="27212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3916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이중 보장</a:t>
            </a:r>
            <a:endParaRPr lang="en-US" sz="1450" dirty="0"/>
          </a:p>
        </p:txBody>
      </p:sp>
      <p:sp>
        <p:nvSpPr>
          <p:cNvPr id="35" name="Shape 24"/>
          <p:cNvSpPr/>
          <p:nvPr/>
        </p:nvSpPr>
        <p:spPr>
          <a:xfrm>
            <a:off x="6711696" y="3172968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3396996"/>
            <a:ext cx="137160" cy="13716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757416" y="335584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clientMutationId 조기 반환</a:t>
            </a:r>
            <a:endParaRPr lang="en-US" sz="10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3899916"/>
            <a:ext cx="137160" cy="1371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757416" y="3858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UNIQUE (run, audience)</a:t>
            </a:r>
            <a:endParaRPr lang="en-US" sz="10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9672" y="4402836"/>
            <a:ext cx="137160" cy="13716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757416" y="436168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재전송 시 상태 변경 없음</a:t>
            </a:r>
            <a:endParaRPr lang="en-US" sz="1050" dirty="0"/>
          </a:p>
        </p:txBody>
      </p:sp>
      <p:sp>
        <p:nvSpPr>
          <p:cNvPr id="42" name="Shape 28"/>
          <p:cNvSpPr/>
          <p:nvPr/>
        </p:nvSpPr>
        <p:spPr>
          <a:xfrm>
            <a:off x="8659368" y="3273552"/>
            <a:ext cx="36576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43" name="Text 29"/>
          <p:cNvSpPr/>
          <p:nvPr/>
        </p:nvSpPr>
        <p:spPr>
          <a:xfrm>
            <a:off x="8906256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정합 (Revision)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9043416" y="1783080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9925812" y="203911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3213" y="2186513"/>
            <a:ext cx="272125" cy="272125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913485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단조 증가 가드</a:t>
            </a:r>
            <a:endParaRPr lang="en-US" sz="1450" dirty="0"/>
          </a:p>
        </p:txBody>
      </p:sp>
      <p:sp>
        <p:nvSpPr>
          <p:cNvPr id="48" name="Shape 33"/>
          <p:cNvSpPr/>
          <p:nvPr/>
        </p:nvSpPr>
        <p:spPr>
          <a:xfrm>
            <a:off x="9454896" y="3172968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2872" y="3396996"/>
            <a:ext cx="137160" cy="13716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9500616" y="335584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 후에만 이벤트 발행</a:t>
            </a:r>
            <a:endParaRPr lang="en-US" sz="1050" dirty="0"/>
          </a:p>
        </p:txBody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2872" y="3899916"/>
            <a:ext cx="137160" cy="13716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9500616" y="3858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revision만 refetch</a:t>
            </a:r>
            <a:endParaRPr lang="en-US" sz="105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2872" y="4402836"/>
            <a:ext cx="137160" cy="137160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9500616" y="436168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재연결 시 스냅샷 복원</a:t>
            </a:r>
            <a:endParaRPr lang="en-US" sz="1050" dirty="0"/>
          </a:p>
        </p:txBody>
      </p:sp>
      <p:sp>
        <p:nvSpPr>
          <p:cNvPr id="55" name="Shape 37"/>
          <p:cNvSpPr/>
          <p:nvPr/>
        </p:nvSpPr>
        <p:spPr>
          <a:xfrm>
            <a:off x="813816" y="5742432"/>
            <a:ext cx="10561320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56" name="Text 38"/>
          <p:cNvSpPr/>
          <p:nvPr/>
        </p:nvSpPr>
        <p:spPr>
          <a:xfrm>
            <a:off x="813816" y="58155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200/200</a:t>
            </a:r>
            <a:endParaRPr lang="en-US" sz="1600" dirty="0"/>
          </a:p>
        </p:txBody>
      </p:sp>
      <p:sp>
        <p:nvSpPr>
          <p:cNvPr id="57" name="Text 39"/>
          <p:cNvSpPr/>
          <p:nvPr/>
        </p:nvSpPr>
        <p:spPr>
          <a:xfrm>
            <a:off x="813816" y="6163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응답 성공</a:t>
            </a:r>
            <a:endParaRPr lang="en-US" sz="950" dirty="0"/>
          </a:p>
        </p:txBody>
      </p:sp>
      <p:sp>
        <p:nvSpPr>
          <p:cNvPr id="58" name="Text 40"/>
          <p:cNvSpPr/>
          <p:nvPr/>
        </p:nvSpPr>
        <p:spPr>
          <a:xfrm>
            <a:off x="2926080" y="58155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325ms</a:t>
            </a:r>
            <a:endParaRPr lang="en-US" sz="1600" dirty="0"/>
          </a:p>
        </p:txBody>
      </p:sp>
      <p:sp>
        <p:nvSpPr>
          <p:cNvPr id="59" name="Text 41"/>
          <p:cNvSpPr/>
          <p:nvPr/>
        </p:nvSpPr>
        <p:spPr>
          <a:xfrm>
            <a:off x="2926080" y="6163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p95 · 예산 16%</a:t>
            </a:r>
            <a:endParaRPr lang="en-US" sz="950" dirty="0"/>
          </a:p>
        </p:txBody>
      </p:sp>
      <p:sp>
        <p:nvSpPr>
          <p:cNvPr id="60" name="Shape 42"/>
          <p:cNvSpPr/>
          <p:nvPr/>
        </p:nvSpPr>
        <p:spPr>
          <a:xfrm>
            <a:off x="2926080" y="58978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43"/>
          <p:cNvSpPr/>
          <p:nvPr/>
        </p:nvSpPr>
        <p:spPr>
          <a:xfrm>
            <a:off x="5038344" y="58155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600" dirty="0"/>
          </a:p>
        </p:txBody>
      </p:sp>
      <p:sp>
        <p:nvSpPr>
          <p:cNvPr id="62" name="Text 44"/>
          <p:cNvSpPr/>
          <p:nvPr/>
        </p:nvSpPr>
        <p:spPr>
          <a:xfrm>
            <a:off x="5038344" y="6163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유실·중복·역전</a:t>
            </a:r>
            <a:endParaRPr lang="en-US" sz="950" dirty="0"/>
          </a:p>
        </p:txBody>
      </p:sp>
      <p:sp>
        <p:nvSpPr>
          <p:cNvPr id="63" name="Shape 45"/>
          <p:cNvSpPr/>
          <p:nvPr/>
        </p:nvSpPr>
        <p:spPr>
          <a:xfrm>
            <a:off x="5038344" y="58978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46"/>
          <p:cNvSpPr/>
          <p:nvPr/>
        </p:nvSpPr>
        <p:spPr>
          <a:xfrm>
            <a:off x="7150608" y="58155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6ms</a:t>
            </a:r>
            <a:endParaRPr lang="en-US" sz="1600" dirty="0"/>
          </a:p>
        </p:txBody>
      </p:sp>
      <p:sp>
        <p:nvSpPr>
          <p:cNvPr id="65" name="Text 47"/>
          <p:cNvSpPr/>
          <p:nvPr/>
        </p:nvSpPr>
        <p:spPr>
          <a:xfrm>
            <a:off x="7150608" y="6163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→ 스냅샷</a:t>
            </a:r>
            <a:endParaRPr lang="en-US" sz="950" dirty="0"/>
          </a:p>
        </p:txBody>
      </p:sp>
      <p:sp>
        <p:nvSpPr>
          <p:cNvPr id="66" name="Shape 48"/>
          <p:cNvSpPr/>
          <p:nvPr/>
        </p:nvSpPr>
        <p:spPr>
          <a:xfrm>
            <a:off x="7150608" y="58978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49"/>
          <p:cNvSpPr/>
          <p:nvPr/>
        </p:nvSpPr>
        <p:spPr>
          <a:xfrm>
            <a:off x="9262872" y="58155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68" name="Text 50"/>
          <p:cNvSpPr/>
          <p:nvPr/>
        </p:nvSpPr>
        <p:spPr>
          <a:xfrm>
            <a:off x="9262872" y="6163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lock 대기 수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9262872" y="58978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발화·대본 의미 매칭, </a:t>
            </a:r>
            <a:pPr algn="ctr" indent="0" marL="0">
              <a:buNone/>
            </a:pPr>
            <a:r>
              <a:rPr lang="en-US" sz="3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 4단계 판정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" y="950976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의역·오인식에서도 진행을 유지하고, 대본과 무관한 발화(ad-lib)는 임계값 조건으로 거절합니다.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5528" y="1426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발화 → 브라우저 임베딩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8408" y="17830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7780">
            <a:solidFill>
              <a:srgbClr val="DDD6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20824" y="202082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225" y="216822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2679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multilingual-e5-small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435608" y="3118104"/>
            <a:ext cx="1737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3323844"/>
            <a:ext cx="137160" cy="137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53896" y="32826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final 발화 수신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3753612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37124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384차원 · Transformers.js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183380"/>
            <a:ext cx="137160" cy="1371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3896" y="4142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슬라이드별 인덱스 캐시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4613148"/>
            <a:ext cx="137160" cy="1371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53896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상위 topK 3 후보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648456" y="3273552"/>
            <a:ext cx="329184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9" name="Text 12"/>
          <p:cNvSpPr/>
          <p:nvPr/>
        </p:nvSpPr>
        <p:spPr>
          <a:xfrm>
            <a:off x="3703320" y="14264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4단계 판정 · fixture 캘리브레이션으로 고정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977640" y="1783080"/>
            <a:ext cx="4224528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7780">
            <a:solidFill>
              <a:srgbClr val="DDD6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4160520" y="19659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순서 (거절 조건 우선 평가)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4233672" y="248716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16"/>
          <p:cNvSpPr/>
          <p:nvPr/>
        </p:nvSpPr>
        <p:spPr>
          <a:xfrm>
            <a:off x="423367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690872" y="24414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&lt; 0.89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702552" y="2441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애드립 → 거절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89120" y="2971800"/>
            <a:ext cx="34015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233672" y="312724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1"/>
          <p:cNvSpPr/>
          <p:nvPr/>
        </p:nvSpPr>
        <p:spPr>
          <a:xfrm>
            <a:off x="423367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690872" y="30815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커버된 문장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702552" y="3081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재수용 차단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389120" y="3611880"/>
            <a:ext cx="34015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233672" y="376732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26"/>
          <p:cNvSpPr/>
          <p:nvPr/>
        </p:nvSpPr>
        <p:spPr>
          <a:xfrm>
            <a:off x="4233672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690872" y="3721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top1 − top2 &lt; 0.04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6702552" y="37216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 → 보류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4389120" y="4251960"/>
            <a:ext cx="34015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233672" y="4407408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1"/>
          <p:cNvSpPr/>
          <p:nvPr/>
        </p:nvSpPr>
        <p:spPr>
          <a:xfrm>
            <a:off x="4233672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690872" y="43616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 겹침 ≥ 0.55 ?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6702552" y="4361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covered : paraphrased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220456" y="3273552"/>
            <a:ext cx="329184" cy="274320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42" name="Text 35"/>
          <p:cNvSpPr/>
          <p:nvPr/>
        </p:nvSpPr>
        <p:spPr>
          <a:xfrm>
            <a:off x="8366760" y="1426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판정 결과의 역할 분리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8549640" y="1783080"/>
            <a:ext cx="265176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7780">
            <a:solidFill>
              <a:srgbClr val="DDD6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732520" y="1965960"/>
            <a:ext cx="457200" cy="45720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208483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299448" y="2002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프롬프터 진행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8769096" y="25328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판정은 lexical 증거 우선,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E5는 보조 근거로만 반영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8549640" y="3511296"/>
            <a:ext cx="265176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7780">
            <a:solidFill>
              <a:srgbClr val="DDD6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8732520" y="3694176"/>
            <a:ext cx="457200" cy="45720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2" y="3813048"/>
            <a:ext cx="219456" cy="21945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299448" y="37307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코칭 커버리지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8769096" y="426110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covered / paraphrased 배지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진행과 독립된 의미 판정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813816" y="5742432"/>
            <a:ext cx="10561320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5097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95097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NLI 428MB · 45s 로드 → 기각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3332988" y="6044184"/>
            <a:ext cx="219456" cy="201168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57" name="Shape 48"/>
          <p:cNvSpPr/>
          <p:nvPr/>
        </p:nvSpPr>
        <p:spPr>
          <a:xfrm>
            <a:off x="360273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360273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 브라우저 채택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5984748" y="6044184"/>
            <a:ext cx="219456" cy="201168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60" name="Shape 51"/>
          <p:cNvSpPr/>
          <p:nvPr/>
        </p:nvSpPr>
        <p:spPr>
          <a:xfrm>
            <a:off x="625449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25449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prefix·임계값 캘리브레이션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8636508" y="6044184"/>
            <a:ext cx="219456" cy="201168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63" name="Shape 54"/>
          <p:cNvSpPr/>
          <p:nvPr/>
        </p:nvSpPr>
        <p:spPr>
          <a:xfrm>
            <a:off x="890625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890625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단계 lazy-load · 발표 중 0회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계층, </a:t>
            </a:r>
            <a:pPr algn="ctr" indent="0" marL="0">
              <a:buNone/>
            </a:pPr>
            <a:r>
              <a:rPr lang="en-US" sz="3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SQS 대신 Postgres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7280" y="950976"/>
            <a:ext cx="9994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메시지 요금이 아니라 인프라·운영에서 발생 — 이미 가진 DB로 큐 의미론을 직접 구현했습니다.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719072"/>
            <a:ext cx="4663440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95681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56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후 취소 (07/16)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72584" y="1901952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985" y="204935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377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SQS 아키텍처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43000" y="2798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~$67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†  ≈ 9.4만 원 + 운영 시간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3351276"/>
            <a:ext cx="137160" cy="137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3101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 5개 + DLQ 5개 · IAM · CloudWatch 알람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735324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9417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consumer ECS + VPC endpoint 고정비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11937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07822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staging마다 큐 인프라 복제 ×5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4503420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446227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큐(외부)와 상태(DB)의 이중 쓰기 정합 문제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143000" y="47183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† 환율 1,400원/$ · Fargate 상시 기준 추정 · 메시지 요금은 ~$0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5687568" y="3218688"/>
            <a:ext cx="822960" cy="384048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1" name="Text 14"/>
          <p:cNvSpPr/>
          <p:nvPr/>
        </p:nvSpPr>
        <p:spPr>
          <a:xfrm>
            <a:off x="5504688" y="3657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의미론 구현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6656832" y="1719072"/>
            <a:ext cx="4663440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931152" y="195681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Text 17"/>
          <p:cNvSpPr/>
          <p:nvPr/>
        </p:nvSpPr>
        <p:spPr>
          <a:xfrm>
            <a:off x="6931152" y="19568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채택 (기본값)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10460736" y="1901952"/>
            <a:ext cx="566928" cy="56692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137" y="2049353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31152" y="2377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전송 계층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6931152" y="2798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인프라 +0원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기존 compose DB 재사용</a:t>
            </a:r>
            <a:endParaRPr lang="en-US" sz="2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351276"/>
            <a:ext cx="137160" cy="1371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05472" y="331012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UPDATE SKIP LOCKED 로 경합 없는 선점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735324"/>
            <a:ext cx="137160" cy="1371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05472" y="369417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lease 10분 + 만료 재큐잉 = visibility timeout</a:t>
            </a:r>
            <a:endParaRPr lang="en-US" sz="10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728" y="4119372"/>
            <a:ext cx="137160" cy="1371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205472" y="407822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attempt &lt; 5 소진 시 terminal = DLQ 대응</a:t>
            </a:r>
            <a:endParaRPr lang="en-US" sz="10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728" y="4503420"/>
            <a:ext cx="137160" cy="1371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205472" y="446227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+ checkpoint + 발행 = 한 트랜잭션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6931152" y="47183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전송-DB 정합 복구 로직(f732449aa) 제거 · localstack 불필요</a:t>
            </a:r>
            <a:endParaRPr lang="en-US" sz="850" dirty="0"/>
          </a:p>
        </p:txBody>
      </p:sp>
      <p:sp>
        <p:nvSpPr>
          <p:cNvPr id="38" name="Shape 26"/>
          <p:cNvSpPr/>
          <p:nvPr/>
        </p:nvSpPr>
        <p:spPr>
          <a:xfrm>
            <a:off x="813816" y="5742432"/>
            <a:ext cx="10561320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25400" dir="5400000">
              <a:srgbClr val="AEBFDA">
                <a:alpha val="28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95097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95097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monolith 단일 Job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3332988" y="6044184"/>
            <a:ext cx="219456" cy="201168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42" name="Shape 30"/>
          <p:cNvSpPr/>
          <p:nvPr/>
        </p:nvSpPr>
        <p:spPr>
          <a:xfrm>
            <a:off x="360273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360273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stage + shard 분리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5984748" y="6044184"/>
            <a:ext cx="219456" cy="201168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45" name="Shape 33"/>
          <p:cNvSpPr/>
          <p:nvPr/>
        </p:nvSpPr>
        <p:spPr>
          <a:xfrm>
            <a:off x="625449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625449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staged BullMQ · 정합 버그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8636508" y="6044184"/>
            <a:ext cx="219456" cy="201168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48" name="Shape 36"/>
          <p:cNvSpPr/>
          <p:nvPr/>
        </p:nvSpPr>
        <p:spPr>
          <a:xfrm>
            <a:off x="8906256" y="5897880"/>
            <a:ext cx="2331720" cy="4937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8906256" y="58978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transport 기본 (07/17)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2026-07-18T08:19:40Z</dcterms:created>
  <dcterms:modified xsi:type="dcterms:W3CDTF">2026-07-18T08:19:40Z</dcterms:modified>
</cp:coreProperties>
</file>